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7" autoAdjust="0"/>
  </p:normalViewPr>
  <p:slideViewPr>
    <p:cSldViewPr snapToGrid="0">
      <p:cViewPr>
        <p:scale>
          <a:sx n="60" d="100"/>
          <a:sy n="60" d="100"/>
        </p:scale>
        <p:origin x="1478" y="4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123D48-3ABD-495B-AF69-9D0C7BE728B1}"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F1E289-EE64-4549-B085-F0629ECECD7A}" type="slidenum">
              <a:rPr lang="en-US" smtClean="0"/>
              <a:t>‹#›</a:t>
            </a:fld>
            <a:endParaRPr lang="en-US"/>
          </a:p>
        </p:txBody>
      </p:sp>
    </p:spTree>
    <p:extLst>
      <p:ext uri="{BB962C8B-B14F-4D97-AF65-F5344CB8AC3E}">
        <p14:creationId xmlns:p14="http://schemas.microsoft.com/office/powerpoint/2010/main" val="3091766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F1E289-EE64-4549-B085-F0629ECECD7A}" type="slidenum">
              <a:rPr lang="en-US" smtClean="0"/>
              <a:t>2</a:t>
            </a:fld>
            <a:endParaRPr lang="en-US"/>
          </a:p>
        </p:txBody>
      </p:sp>
    </p:spTree>
    <p:extLst>
      <p:ext uri="{BB962C8B-B14F-4D97-AF65-F5344CB8AC3E}">
        <p14:creationId xmlns:p14="http://schemas.microsoft.com/office/powerpoint/2010/main" val="3541222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D862-B084-8E4B-6216-CE158AFAE6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AC201D-0434-F237-8B00-8C3B625875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59A5E-2331-5F28-B3E1-D9FCDA6395CE}"/>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12F46043-90A0-9AB4-BEDD-3403A498C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34D284-488A-B205-84A2-020CDC069DAF}"/>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1840215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B9D9-68F2-4CCD-98F3-583A45E892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D3994-5796-808C-A92C-B7FE365DD0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515D0D-8ED3-919A-17FF-4A6237FC0CEC}"/>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3288650F-B00B-9337-3094-68D66DE5E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015412-BB99-E0EF-E5E7-5349950C967C}"/>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3621533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917B-709C-9B23-0014-7EF26EA369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A17E03-D146-BE26-F9BA-002D9083E1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6DEB2-2218-46F3-E9AA-B8E3C5B0D751}"/>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63786893-512F-0EA3-06EB-B39A8DA32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1A38C3-75F5-4942-90F2-3D9B6CBE0367}"/>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2742938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F486-494B-9B94-98F4-EA93B3F6F0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49C545-960B-DECD-8815-C0E781CD88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EC72BA-FA7D-90C8-A927-5C6FE2AAE9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538A35-AB3E-2B84-325F-CDD308B57E62}"/>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6" name="Footer Placeholder 5">
            <a:extLst>
              <a:ext uri="{FF2B5EF4-FFF2-40B4-BE49-F238E27FC236}">
                <a16:creationId xmlns:a16="http://schemas.microsoft.com/office/drawing/2014/main" id="{8B854650-B753-EC26-74CB-F3AD034B6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B61636-A11E-57F4-47CB-0CDDE4A578F8}"/>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407972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9AF6C-D875-BF46-0DAA-6D6C36659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A2EBF7-3C36-9A28-C32E-126316C8CE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493223-FA36-CC09-628E-7ED1DD9E56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B6DB8F-2158-F3E0-24E7-38AD2E901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DBD562-A2EA-4025-54F9-194DC53B6D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A030D-E26C-0DE0-95E0-A0450CD2E932}"/>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8" name="Footer Placeholder 7">
            <a:extLst>
              <a:ext uri="{FF2B5EF4-FFF2-40B4-BE49-F238E27FC236}">
                <a16:creationId xmlns:a16="http://schemas.microsoft.com/office/drawing/2014/main" id="{B9645468-ED80-8FD3-5226-872149C773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0C1C35-578E-459C-3F83-056BCAEE4487}"/>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184575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E2B2E-A4C7-8EB8-9CA5-FC00FC5E2B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49759F-00B9-06A0-F476-D245EF156B49}"/>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4" name="Footer Placeholder 3">
            <a:extLst>
              <a:ext uri="{FF2B5EF4-FFF2-40B4-BE49-F238E27FC236}">
                <a16:creationId xmlns:a16="http://schemas.microsoft.com/office/drawing/2014/main" id="{42811132-EAFE-2685-0384-8CF9897CDA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95DF18-D05E-37D5-08F4-DDA053207FB4}"/>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235897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7A0C9-CDAB-1CD5-BCB6-51A95F9A376B}"/>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3" name="Footer Placeholder 2">
            <a:extLst>
              <a:ext uri="{FF2B5EF4-FFF2-40B4-BE49-F238E27FC236}">
                <a16:creationId xmlns:a16="http://schemas.microsoft.com/office/drawing/2014/main" id="{6A5DC60E-8F5F-E47D-4F31-141D864A4E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9F4B9B-8B14-639E-506B-A47E8A17F288}"/>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4268388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8C0B-33CC-AA33-9D79-A972D38C83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EFEF30-3DB1-6830-DF2F-CFFE78608E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97502C-1D2F-E12A-D7C9-A8FE18663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0ED9C-40ED-08CA-D999-D502210BDA90}"/>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6" name="Footer Placeholder 5">
            <a:extLst>
              <a:ext uri="{FF2B5EF4-FFF2-40B4-BE49-F238E27FC236}">
                <a16:creationId xmlns:a16="http://schemas.microsoft.com/office/drawing/2014/main" id="{B7619FC5-F1C3-1B5C-35DF-5AA6035FF0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39F73-3999-A947-4ED2-3EF8FE417473}"/>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3081720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4D09E-C8BF-DAE8-437C-376BBA64D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607D32-3F90-E382-45FC-29E5CA250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E484C8-8EEA-514E-AD37-C39CC7711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4C533-1030-EC81-D0D5-E1DD08D30215}"/>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6" name="Footer Placeholder 5">
            <a:extLst>
              <a:ext uri="{FF2B5EF4-FFF2-40B4-BE49-F238E27FC236}">
                <a16:creationId xmlns:a16="http://schemas.microsoft.com/office/drawing/2014/main" id="{22569766-B9BD-5B94-41F6-68670DFC14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EE0C07-CE82-883F-DF85-60E3CDB099D7}"/>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265833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EFA5D-8AC2-1101-8711-51553DD624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2DA9CD-5D19-35F6-FD3D-7E554A8E22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59729E-EFD6-9B77-4CCF-6657F489A2DB}"/>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2D5C1BE4-6A3C-479F-907D-C3ACA6EED4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5D322-5E39-6FC3-F2A5-F8CE01A7CCA9}"/>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386875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3E7BD9-E5EE-9E85-B0DB-C7893DE15A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A99B8E-CA0F-84C0-6BD9-E840167DF3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EA10E-9701-DC16-8468-BD25AE8E7485}"/>
              </a:ext>
            </a:extLst>
          </p:cNvPr>
          <p:cNvSpPr>
            <a:spLocks noGrp="1"/>
          </p:cNvSpPr>
          <p:nvPr>
            <p:ph type="dt" sz="half" idx="10"/>
          </p:nvPr>
        </p:nvSpPr>
        <p:spPr/>
        <p:txBody>
          <a:body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219BEFA7-88C9-5136-4EE6-959534774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BD498-3853-87C0-B042-3906658312A0}"/>
              </a:ext>
            </a:extLst>
          </p:cNvPr>
          <p:cNvSpPr>
            <a:spLocks noGrp="1"/>
          </p:cNvSpPr>
          <p:nvPr>
            <p:ph type="sldNum" sz="quarter" idx="12"/>
          </p:nvPr>
        </p:nvSpPr>
        <p:spPr/>
        <p:txBody>
          <a:bodyPr/>
          <a:lstStyle/>
          <a:p>
            <a:fld id="{854C3C2B-3200-42C1-84DF-D71FF9C79C92}" type="slidenum">
              <a:rPr lang="en-US" smtClean="0"/>
              <a:t>‹#›</a:t>
            </a:fld>
            <a:endParaRPr lang="en-US"/>
          </a:p>
        </p:txBody>
      </p:sp>
    </p:spTree>
    <p:extLst>
      <p:ext uri="{BB962C8B-B14F-4D97-AF65-F5344CB8AC3E}">
        <p14:creationId xmlns:p14="http://schemas.microsoft.com/office/powerpoint/2010/main" val="4126963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031D5-A6CB-B198-83AA-6A22EFA929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6A8EFE-840B-CADD-DC20-1F7CA975FB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268121-6EC2-6034-E184-2F39D25F5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B3B61-45AB-4928-BB28-FD843969AFC9}" type="datetimeFigureOut">
              <a:rPr lang="en-US" smtClean="0"/>
              <a:t>9/6/2025</a:t>
            </a:fld>
            <a:endParaRPr lang="en-US"/>
          </a:p>
        </p:txBody>
      </p:sp>
      <p:sp>
        <p:nvSpPr>
          <p:cNvPr id="5" name="Footer Placeholder 4">
            <a:extLst>
              <a:ext uri="{FF2B5EF4-FFF2-40B4-BE49-F238E27FC236}">
                <a16:creationId xmlns:a16="http://schemas.microsoft.com/office/drawing/2014/main" id="{4B337DB4-48DA-82AD-7CF8-D2AB1139A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737F1A-FA1E-5D0B-150E-890596B2AF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C3C2B-3200-42C1-84DF-D71FF9C79C92}" type="slidenum">
              <a:rPr lang="en-US" smtClean="0"/>
              <a:t>‹#›</a:t>
            </a:fld>
            <a:endParaRPr lang="en-US"/>
          </a:p>
        </p:txBody>
      </p:sp>
    </p:spTree>
    <p:extLst>
      <p:ext uri="{BB962C8B-B14F-4D97-AF65-F5344CB8AC3E}">
        <p14:creationId xmlns:p14="http://schemas.microsoft.com/office/powerpoint/2010/main" val="2256604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B3BFF6-D46D-3810-7B07-52E7BEF3E4D8}"/>
              </a:ext>
            </a:extLst>
          </p:cNvPr>
          <p:cNvPicPr>
            <a:picLocks noChangeAspect="1"/>
          </p:cNvPicPr>
          <p:nvPr/>
        </p:nvPicPr>
        <p:blipFill>
          <a:blip r:embed="rId2"/>
          <a:stretch>
            <a:fillRect/>
          </a:stretch>
        </p:blipFill>
        <p:spPr>
          <a:xfrm>
            <a:off x="0" y="526932"/>
            <a:ext cx="12192000" cy="5804135"/>
          </a:xfrm>
          <a:prstGeom prst="rect">
            <a:avLst/>
          </a:prstGeom>
        </p:spPr>
      </p:pic>
    </p:spTree>
    <p:extLst>
      <p:ext uri="{BB962C8B-B14F-4D97-AF65-F5344CB8AC3E}">
        <p14:creationId xmlns:p14="http://schemas.microsoft.com/office/powerpoint/2010/main" val="207466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B82D437-68CC-6CAD-7003-229ADD2E67B0}"/>
              </a:ext>
            </a:extLst>
          </p:cNvPr>
          <p:cNvSpPr txBox="1"/>
          <p:nvPr/>
        </p:nvSpPr>
        <p:spPr>
          <a:xfrm>
            <a:off x="123824" y="1328743"/>
            <a:ext cx="11544301" cy="5016758"/>
          </a:xfrm>
          <a:prstGeom prst="rect">
            <a:avLst/>
          </a:prstGeom>
          <a:noFill/>
        </p:spPr>
        <p:txBody>
          <a:bodyPr wrap="square">
            <a:spAutoFit/>
          </a:bodyPr>
          <a:lstStyle/>
          <a:p>
            <a:r>
              <a:rPr lang="en-US" sz="2800" b="1" dirty="0">
                <a:highlight>
                  <a:srgbClr val="FFFF00"/>
                </a:highlight>
              </a:rPr>
              <a:t>Business Challenges:</a:t>
            </a:r>
          </a:p>
          <a:p>
            <a:endParaRPr lang="en-US" sz="2800" b="1" dirty="0"/>
          </a:p>
          <a:p>
            <a:pPr>
              <a:buFont typeface="+mj-lt"/>
              <a:buAutoNum type="arabicPeriod"/>
            </a:pPr>
            <a:r>
              <a:rPr lang="en-US" sz="2800" b="1" dirty="0"/>
              <a:t>High Employee Attrition</a:t>
            </a:r>
            <a:br>
              <a:rPr lang="en-US" sz="2000" dirty="0"/>
            </a:br>
            <a:r>
              <a:rPr lang="en-US" sz="2000" dirty="0"/>
              <a:t>The company is facing a significant challenge in retaining employees. It is crucial to track the number of employees leaving the company (attrition) and analyze the attrition rate across departments, job roles, age groups, gender, and education levels.</a:t>
            </a:r>
          </a:p>
          <a:p>
            <a:pPr>
              <a:buFont typeface="+mj-lt"/>
              <a:buAutoNum type="arabicPeriod"/>
            </a:pPr>
            <a:endParaRPr lang="en-US" sz="2000" dirty="0"/>
          </a:p>
          <a:p>
            <a:pPr>
              <a:buFont typeface="+mj-lt"/>
              <a:buAutoNum type="arabicPeriod"/>
            </a:pPr>
            <a:r>
              <a:rPr lang="en-US" sz="2800" b="1" dirty="0"/>
              <a:t>Department-Wise Workforce Stability</a:t>
            </a:r>
            <a:br>
              <a:rPr lang="en-US" sz="2000" dirty="0"/>
            </a:br>
            <a:r>
              <a:rPr lang="en-US" sz="2000" dirty="0"/>
              <a:t>Identifying departments with the highest attrition (e.g., Sales Executives, Laboratory Technicians) is essential to address department-specific issues and improve retention strategies.</a:t>
            </a:r>
          </a:p>
          <a:p>
            <a:pPr>
              <a:buFont typeface="+mj-lt"/>
              <a:buAutoNum type="arabicPeriod"/>
            </a:pPr>
            <a:endParaRPr lang="en-US" sz="2000" dirty="0"/>
          </a:p>
          <a:p>
            <a:pPr>
              <a:buFont typeface="+mj-lt"/>
              <a:buAutoNum type="arabicPeriod"/>
            </a:pPr>
            <a:r>
              <a:rPr lang="en-US" sz="2800" b="1" dirty="0"/>
              <a:t>Demographic Insights</a:t>
            </a:r>
            <a:br>
              <a:rPr lang="en-US" sz="2000" dirty="0"/>
            </a:br>
            <a:r>
              <a:rPr lang="en-US" sz="2000" dirty="0"/>
              <a:t>Understanding attrition patterns across different demographics such as gender, age band, marital status, and education field is necessary to design employee-centric policies.</a:t>
            </a:r>
          </a:p>
        </p:txBody>
      </p:sp>
      <p:sp>
        <p:nvSpPr>
          <p:cNvPr id="13" name="TextBox 12">
            <a:extLst>
              <a:ext uri="{FF2B5EF4-FFF2-40B4-BE49-F238E27FC236}">
                <a16:creationId xmlns:a16="http://schemas.microsoft.com/office/drawing/2014/main" id="{C4C5A675-222D-E49B-D3A6-80A58E51986B}"/>
              </a:ext>
            </a:extLst>
          </p:cNvPr>
          <p:cNvSpPr txBox="1"/>
          <p:nvPr/>
        </p:nvSpPr>
        <p:spPr>
          <a:xfrm>
            <a:off x="123824" y="143167"/>
            <a:ext cx="7574834" cy="923330"/>
          </a:xfrm>
          <a:prstGeom prst="rect">
            <a:avLst/>
          </a:prstGeom>
          <a:noFill/>
        </p:spPr>
        <p:txBody>
          <a:bodyPr wrap="square">
            <a:spAutoFit/>
          </a:bodyPr>
          <a:lstStyle/>
          <a:p>
            <a:r>
              <a:rPr lang="en-US" sz="5400" b="1" dirty="0">
                <a:solidFill>
                  <a:srgbClr val="002060"/>
                </a:solidFill>
                <a:latin typeface="Lato Black" panose="020F0A02020204030203" pitchFamily="34" charset="0"/>
              </a:rPr>
              <a:t>Problem Statement</a:t>
            </a:r>
          </a:p>
        </p:txBody>
      </p:sp>
    </p:spTree>
    <p:extLst>
      <p:ext uri="{BB962C8B-B14F-4D97-AF65-F5344CB8AC3E}">
        <p14:creationId xmlns:p14="http://schemas.microsoft.com/office/powerpoint/2010/main" val="2162097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86CA31-6515-2E68-3A84-B48E7727DE84}"/>
              </a:ext>
            </a:extLst>
          </p:cNvPr>
          <p:cNvSpPr txBox="1"/>
          <p:nvPr/>
        </p:nvSpPr>
        <p:spPr>
          <a:xfrm>
            <a:off x="142874" y="1305267"/>
            <a:ext cx="11477625" cy="5447645"/>
          </a:xfrm>
          <a:prstGeom prst="rect">
            <a:avLst/>
          </a:prstGeom>
          <a:noFill/>
        </p:spPr>
        <p:txBody>
          <a:bodyPr wrap="square">
            <a:spAutoFit/>
          </a:bodyPr>
          <a:lstStyle/>
          <a:p>
            <a:pPr marL="228600" indent="-228600">
              <a:buFont typeface="+mj-lt"/>
              <a:buAutoNum type="arabicPeriod" startAt="4"/>
            </a:pPr>
            <a:r>
              <a:rPr lang="en-US" sz="2800" b="1" dirty="0"/>
              <a:t>Compensation and Salary Analysis</a:t>
            </a:r>
            <a:br>
              <a:rPr lang="en-US" sz="2800" dirty="0"/>
            </a:br>
            <a:r>
              <a:rPr lang="en-US" sz="2400" dirty="0"/>
              <a:t>Salary and income play a vital role in employee satisfaction. Monitoring average monthly income by department and linking it with attrition trends helps determine whether low compensation is a factor behind employees leaving.</a:t>
            </a:r>
          </a:p>
          <a:p>
            <a:endParaRPr lang="en-US" sz="2400" dirty="0"/>
          </a:p>
          <a:p>
            <a:pPr marL="342900" indent="-342900">
              <a:buFont typeface="+mj-lt"/>
              <a:buAutoNum type="arabicPeriod" startAt="5"/>
            </a:pPr>
            <a:r>
              <a:rPr lang="en-US" sz="2800" b="1" dirty="0"/>
              <a:t>Employee Engagement &amp; Satisfaction</a:t>
            </a:r>
            <a:br>
              <a:rPr lang="en-US" sz="2800" dirty="0"/>
            </a:br>
            <a:r>
              <a:rPr lang="en-US" sz="2400" dirty="0"/>
              <a:t>Employee satisfaction indicators like job satisfaction, work-life balance, environment satisfaction, and job involvement directly affect retention. Analyzing attrition against these factors reveals the root causes of dissatisfaction.</a:t>
            </a:r>
          </a:p>
          <a:p>
            <a:endParaRPr lang="en-US" sz="2400" dirty="0"/>
          </a:p>
          <a:p>
            <a:pPr marL="342900" indent="-342900">
              <a:buFont typeface="+mj-lt"/>
              <a:buAutoNum type="arabicPeriod" startAt="6"/>
            </a:pPr>
            <a:r>
              <a:rPr lang="en-US" sz="2800" b="1" dirty="0"/>
              <a:t>Work-Life Balance Issues</a:t>
            </a:r>
            <a:br>
              <a:rPr lang="en-US" sz="2800" dirty="0"/>
            </a:br>
            <a:r>
              <a:rPr lang="en-US" sz="2400" dirty="0"/>
              <a:t>Employees with poor work-life balance are more likely to quit. Monitoring attrition by work-life balance ratings helps HR take corrective measures to improve employee well-being.</a:t>
            </a:r>
          </a:p>
        </p:txBody>
      </p:sp>
      <p:sp>
        <p:nvSpPr>
          <p:cNvPr id="13" name="TextBox 12">
            <a:extLst>
              <a:ext uri="{FF2B5EF4-FFF2-40B4-BE49-F238E27FC236}">
                <a16:creationId xmlns:a16="http://schemas.microsoft.com/office/drawing/2014/main" id="{C4C5A675-222D-E49B-D3A6-80A58E51986B}"/>
              </a:ext>
            </a:extLst>
          </p:cNvPr>
          <p:cNvSpPr txBox="1"/>
          <p:nvPr/>
        </p:nvSpPr>
        <p:spPr>
          <a:xfrm>
            <a:off x="123824" y="143167"/>
            <a:ext cx="7574834" cy="923330"/>
          </a:xfrm>
          <a:prstGeom prst="rect">
            <a:avLst/>
          </a:prstGeom>
          <a:noFill/>
        </p:spPr>
        <p:txBody>
          <a:bodyPr wrap="square">
            <a:spAutoFit/>
          </a:bodyPr>
          <a:lstStyle/>
          <a:p>
            <a:r>
              <a:rPr lang="en-US" sz="5400" b="1" dirty="0">
                <a:solidFill>
                  <a:srgbClr val="002060"/>
                </a:solidFill>
                <a:latin typeface="Lato Black" panose="020F0A02020204030203" pitchFamily="34" charset="0"/>
              </a:rPr>
              <a:t>Problem Statement</a:t>
            </a:r>
          </a:p>
        </p:txBody>
      </p:sp>
    </p:spTree>
    <p:extLst>
      <p:ext uri="{BB962C8B-B14F-4D97-AF65-F5344CB8AC3E}">
        <p14:creationId xmlns:p14="http://schemas.microsoft.com/office/powerpoint/2010/main" val="693065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6EE949-910F-AAD3-5C15-276FFD66D36F}"/>
              </a:ext>
            </a:extLst>
          </p:cNvPr>
          <p:cNvSpPr txBox="1"/>
          <p:nvPr/>
        </p:nvSpPr>
        <p:spPr>
          <a:xfrm>
            <a:off x="171450" y="2518509"/>
            <a:ext cx="8526437" cy="2677656"/>
          </a:xfrm>
          <a:prstGeom prst="rect">
            <a:avLst/>
          </a:prstGeom>
          <a:noFill/>
        </p:spPr>
        <p:txBody>
          <a:bodyPr wrap="none" rtlCol="0">
            <a:spAutoFit/>
          </a:bodyPr>
          <a:lstStyle/>
          <a:p>
            <a:pPr marL="342900" marR="0" indent="-342900">
              <a:buFont typeface="+mj-lt"/>
              <a:buAutoNum type="arabicPeriod"/>
            </a:pPr>
            <a:r>
              <a:rPr lang="en-US" sz="2800" b="1" dirty="0">
                <a:solidFill>
                  <a:srgbClr val="002060"/>
                </a:solidFill>
                <a:latin typeface="quote-cjk-patch"/>
              </a:rPr>
              <a:t> Total Employees: </a:t>
            </a:r>
            <a:r>
              <a:rPr lang="en-US" sz="2000" dirty="0">
                <a:effectLst/>
                <a:latin typeface="quote-cjk-patch"/>
                <a:ea typeface="Times New Roman" panose="02020603050405020304" pitchFamily="18" charset="0"/>
              </a:rPr>
              <a:t>Total number of employees in the company.</a:t>
            </a:r>
            <a:endParaRPr lang="en-US" sz="2400" dirty="0">
              <a:effectLst/>
              <a:latin typeface="quote-cjk-patch"/>
              <a:ea typeface="Times New Roman" panose="02020603050405020304" pitchFamily="18" charset="0"/>
            </a:endParaRPr>
          </a:p>
          <a:p>
            <a:pPr marL="342900" marR="0" indent="-342900">
              <a:buFont typeface="+mj-lt"/>
              <a:buAutoNum type="arabicPeriod"/>
            </a:pPr>
            <a:r>
              <a:rPr lang="en-US" sz="2800" b="1" dirty="0">
                <a:solidFill>
                  <a:srgbClr val="002060"/>
                </a:solidFill>
                <a:latin typeface="quote-cjk-patch"/>
              </a:rPr>
              <a:t> Current Employees: </a:t>
            </a:r>
            <a:r>
              <a:rPr lang="en-US" sz="2000" dirty="0">
                <a:latin typeface="quote-cjk-patch"/>
              </a:rPr>
              <a:t>Employees currently working in the company.</a:t>
            </a:r>
          </a:p>
          <a:p>
            <a:pPr marL="342900" marR="0" indent="-342900">
              <a:buFont typeface="+mj-lt"/>
              <a:buAutoNum type="arabicPeriod"/>
            </a:pPr>
            <a:r>
              <a:rPr lang="en-US" sz="2800" b="1" dirty="0">
                <a:solidFill>
                  <a:srgbClr val="002060"/>
                </a:solidFill>
                <a:latin typeface="quote-cjk-patch"/>
              </a:rPr>
              <a:t> Exit Employees: </a:t>
            </a:r>
            <a:r>
              <a:rPr lang="en-US" sz="2000" dirty="0">
                <a:latin typeface="quote-cjk-patch"/>
              </a:rPr>
              <a:t>Employees who have left the company.</a:t>
            </a:r>
          </a:p>
          <a:p>
            <a:pPr marL="342900" marR="0" indent="-342900">
              <a:buFont typeface="+mj-lt"/>
              <a:buAutoNum type="arabicPeriod"/>
            </a:pPr>
            <a:r>
              <a:rPr lang="en-US" sz="2800" b="1" dirty="0">
                <a:solidFill>
                  <a:srgbClr val="002060"/>
                </a:solidFill>
                <a:latin typeface="quote-cjk-patch"/>
              </a:rPr>
              <a:t> Attrition Rate: </a:t>
            </a:r>
            <a:r>
              <a:rPr lang="en-US" sz="2000" dirty="0">
                <a:latin typeface="quote-cjk-patch"/>
              </a:rPr>
              <a:t>Percentage of employees who left the company.</a:t>
            </a:r>
          </a:p>
          <a:p>
            <a:pPr marL="342900" marR="0" indent="-342900">
              <a:buFont typeface="+mj-lt"/>
              <a:buAutoNum type="arabicPeriod"/>
            </a:pPr>
            <a:r>
              <a:rPr lang="en-US" sz="2800" b="1" dirty="0">
                <a:solidFill>
                  <a:srgbClr val="002060"/>
                </a:solidFill>
                <a:latin typeface="quote-cjk-patch"/>
              </a:rPr>
              <a:t> Avg Monthly Income: </a:t>
            </a:r>
            <a:r>
              <a:rPr lang="en-US" sz="2000" dirty="0">
                <a:latin typeface="quote-cjk-patch"/>
              </a:rPr>
              <a:t>Average salary of employees per month.</a:t>
            </a:r>
          </a:p>
          <a:p>
            <a:pPr marL="342900" marR="0" indent="-342900">
              <a:buFont typeface="+mj-lt"/>
              <a:buAutoNum type="arabicPeriod"/>
            </a:pPr>
            <a:r>
              <a:rPr lang="en-US" sz="2800" b="1" dirty="0">
                <a:solidFill>
                  <a:srgbClr val="002060"/>
                </a:solidFill>
                <a:effectLst/>
                <a:latin typeface="quote-cjk-patch"/>
                <a:ea typeface="Times New Roman" panose="02020603050405020304" pitchFamily="18" charset="0"/>
              </a:rPr>
              <a:t> Avg Age: </a:t>
            </a:r>
            <a:r>
              <a:rPr lang="en-US" sz="2000" dirty="0">
                <a:latin typeface="quote-cjk-patch"/>
              </a:rPr>
              <a:t>Average age of employees.</a:t>
            </a:r>
          </a:p>
        </p:txBody>
      </p:sp>
      <p:sp>
        <p:nvSpPr>
          <p:cNvPr id="5" name="TextBox 4">
            <a:extLst>
              <a:ext uri="{FF2B5EF4-FFF2-40B4-BE49-F238E27FC236}">
                <a16:creationId xmlns:a16="http://schemas.microsoft.com/office/drawing/2014/main" id="{61E7A7DA-8519-0ED8-0D84-6EA66854820A}"/>
              </a:ext>
            </a:extLst>
          </p:cNvPr>
          <p:cNvSpPr txBox="1"/>
          <p:nvPr/>
        </p:nvSpPr>
        <p:spPr>
          <a:xfrm>
            <a:off x="123824" y="143167"/>
            <a:ext cx="7574834" cy="923330"/>
          </a:xfrm>
          <a:prstGeom prst="rect">
            <a:avLst/>
          </a:prstGeom>
          <a:noFill/>
        </p:spPr>
        <p:txBody>
          <a:bodyPr wrap="square">
            <a:spAutoFit/>
          </a:bodyPr>
          <a:lstStyle/>
          <a:p>
            <a:r>
              <a:rPr lang="en-US" sz="5400" b="1" dirty="0">
                <a:solidFill>
                  <a:srgbClr val="002060"/>
                </a:solidFill>
                <a:latin typeface="Lato Black" panose="020F0A02020204030203" pitchFamily="34" charset="0"/>
              </a:rPr>
              <a:t>Problem Statement</a:t>
            </a:r>
          </a:p>
        </p:txBody>
      </p:sp>
      <p:sp>
        <p:nvSpPr>
          <p:cNvPr id="6" name="TextBox 5">
            <a:extLst>
              <a:ext uri="{FF2B5EF4-FFF2-40B4-BE49-F238E27FC236}">
                <a16:creationId xmlns:a16="http://schemas.microsoft.com/office/drawing/2014/main" id="{26F7A7C2-D8F4-4F7C-A90F-082C536DC73D}"/>
              </a:ext>
            </a:extLst>
          </p:cNvPr>
          <p:cNvSpPr txBox="1"/>
          <p:nvPr/>
        </p:nvSpPr>
        <p:spPr>
          <a:xfrm>
            <a:off x="123824" y="1039665"/>
            <a:ext cx="2763770" cy="461665"/>
          </a:xfrm>
          <a:prstGeom prst="rect">
            <a:avLst/>
          </a:prstGeom>
          <a:noFill/>
        </p:spPr>
        <p:txBody>
          <a:bodyPr wrap="none" rtlCol="0">
            <a:spAutoFit/>
          </a:bodyPr>
          <a:lstStyle/>
          <a:p>
            <a:r>
              <a:rPr lang="en-US" sz="2400" b="1" dirty="0"/>
              <a:t>KPI’s REQUIREMENT</a:t>
            </a:r>
          </a:p>
        </p:txBody>
      </p:sp>
      <p:sp>
        <p:nvSpPr>
          <p:cNvPr id="7" name="TextBox 6">
            <a:extLst>
              <a:ext uri="{FF2B5EF4-FFF2-40B4-BE49-F238E27FC236}">
                <a16:creationId xmlns:a16="http://schemas.microsoft.com/office/drawing/2014/main" id="{FD23F0B1-1A10-E8C5-7762-E4A216B6B32F}"/>
              </a:ext>
            </a:extLst>
          </p:cNvPr>
          <p:cNvSpPr txBox="1"/>
          <p:nvPr/>
        </p:nvSpPr>
        <p:spPr>
          <a:xfrm>
            <a:off x="171450" y="1769806"/>
            <a:ext cx="11823905" cy="646331"/>
          </a:xfrm>
          <a:prstGeom prst="rect">
            <a:avLst/>
          </a:prstGeom>
          <a:noFill/>
        </p:spPr>
        <p:txBody>
          <a:bodyPr wrap="square" rtlCol="0">
            <a:spAutoFit/>
          </a:bodyPr>
          <a:lstStyle/>
          <a:p>
            <a:r>
              <a:rPr lang="en-US" b="1" i="0" dirty="0">
                <a:solidFill>
                  <a:srgbClr val="0F1115"/>
                </a:solidFill>
                <a:effectLst/>
                <a:highlight>
                  <a:srgbClr val="FFFFFF"/>
                </a:highlight>
                <a:latin typeface="quote-cjk-patch"/>
              </a:rPr>
              <a:t>Analyze our HR data to track vital signs of our workforce. By measuring these key metrics, we aim to find answers to important business questions, improve our HR strategies, and make smarter decisions based on evidence.</a:t>
            </a:r>
            <a:endParaRPr lang="en-US" dirty="0"/>
          </a:p>
        </p:txBody>
      </p:sp>
    </p:spTree>
    <p:extLst>
      <p:ext uri="{BB962C8B-B14F-4D97-AF65-F5344CB8AC3E}">
        <p14:creationId xmlns:p14="http://schemas.microsoft.com/office/powerpoint/2010/main" val="407347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9370A3-F96C-C19B-CE68-A313DB27EB06}"/>
              </a:ext>
            </a:extLst>
          </p:cNvPr>
          <p:cNvSpPr txBox="1"/>
          <p:nvPr/>
        </p:nvSpPr>
        <p:spPr>
          <a:xfrm>
            <a:off x="226142" y="1243786"/>
            <a:ext cx="11203858" cy="4370427"/>
          </a:xfrm>
          <a:prstGeom prst="rect">
            <a:avLst/>
          </a:prstGeom>
          <a:noFill/>
        </p:spPr>
        <p:txBody>
          <a:bodyPr wrap="square">
            <a:spAutoFit/>
          </a:bodyPr>
          <a:lstStyle/>
          <a:p>
            <a:pPr marL="342900" marR="0" indent="-342900">
              <a:buFont typeface="+mj-lt"/>
              <a:buAutoNum type="arabicPeriod" startAt="7"/>
            </a:pPr>
            <a:r>
              <a:rPr lang="en-US" sz="2400" b="1" dirty="0">
                <a:solidFill>
                  <a:srgbClr val="002060"/>
                </a:solidFill>
                <a:latin typeface="quote-cjk-patch"/>
              </a:rPr>
              <a:t>Attrition by Department &amp; Filter by Department: </a:t>
            </a:r>
            <a:r>
              <a:rPr lang="en-US" sz="2000" dirty="0">
                <a:effectLst/>
                <a:latin typeface="Times New Roman" panose="02020603050405020304" pitchFamily="18" charset="0"/>
                <a:ea typeface="Times New Roman" panose="02020603050405020304" pitchFamily="18" charset="0"/>
              </a:rPr>
              <a:t>Identify which departments face the highest employee exits.</a:t>
            </a:r>
          </a:p>
          <a:p>
            <a:pPr marL="342900" marR="0" indent="-342900">
              <a:buFont typeface="+mj-lt"/>
              <a:buAutoNum type="arabicPeriod" startAt="7"/>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7"/>
            </a:pPr>
            <a:r>
              <a:rPr lang="en-US" sz="2400" b="1" dirty="0">
                <a:solidFill>
                  <a:srgbClr val="002060"/>
                </a:solidFill>
                <a:latin typeface="quote-cjk-patch"/>
              </a:rPr>
              <a:t>Attrition by Job Role &amp; Filter by Gender: </a:t>
            </a:r>
            <a:r>
              <a:rPr lang="en-US" sz="2000" dirty="0">
                <a:effectLst/>
                <a:latin typeface="Times New Roman" panose="02020603050405020304" pitchFamily="18" charset="0"/>
                <a:ea typeface="Times New Roman" panose="02020603050405020304" pitchFamily="18" charset="0"/>
              </a:rPr>
              <a:t>Compare attrition across job roles and see if gender impacts it.</a:t>
            </a:r>
          </a:p>
          <a:p>
            <a:pPr marL="342900" marR="0" indent="-342900">
              <a:buFont typeface="+mj-lt"/>
              <a:buAutoNum type="arabicPeriod" startAt="7"/>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7"/>
            </a:pPr>
            <a:r>
              <a:rPr lang="en-US" sz="2400" b="1" dirty="0">
                <a:solidFill>
                  <a:srgbClr val="002060"/>
                </a:solidFill>
                <a:latin typeface="quote-cjk-patch"/>
              </a:rPr>
              <a:t>Attrition by Age Band &amp; Filter by Age Band:  </a:t>
            </a:r>
            <a:r>
              <a:rPr lang="en-US" sz="2000" dirty="0">
                <a:effectLst/>
                <a:latin typeface="Times New Roman" panose="02020603050405020304" pitchFamily="18" charset="0"/>
                <a:ea typeface="Times New Roman" panose="02020603050405020304" pitchFamily="18" charset="0"/>
              </a:rPr>
              <a:t>Analyze which age groups are leaving more.</a:t>
            </a:r>
          </a:p>
          <a:p>
            <a:pPr marL="342900" marR="0" indent="-342900">
              <a:buFont typeface="+mj-lt"/>
              <a:buAutoNum type="arabicPeriod" startAt="7"/>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7"/>
            </a:pPr>
            <a:r>
              <a:rPr lang="en-US" sz="2400" b="1" dirty="0">
                <a:solidFill>
                  <a:srgbClr val="002060"/>
                </a:solidFill>
                <a:latin typeface="quote-cjk-patch"/>
              </a:rPr>
              <a:t> Attrition by Gender &amp; Filter by Education Field: </a:t>
            </a:r>
            <a:r>
              <a:rPr lang="en-US" sz="2000" dirty="0">
                <a:effectLst/>
                <a:latin typeface="Times New Roman" panose="02020603050405020304" pitchFamily="18" charset="0"/>
                <a:ea typeface="Times New Roman" panose="02020603050405020304" pitchFamily="18" charset="0"/>
              </a:rPr>
              <a:t>Check if gender and education field affect employee attrition.</a:t>
            </a:r>
          </a:p>
          <a:p>
            <a:pPr marL="342900" marR="0" indent="-342900">
              <a:buFont typeface="+mj-lt"/>
              <a:buAutoNum type="arabicPeriod" startAt="7"/>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7"/>
            </a:pPr>
            <a:r>
              <a:rPr lang="en-US" sz="2400" b="1" dirty="0">
                <a:solidFill>
                  <a:srgbClr val="002060"/>
                </a:solidFill>
                <a:latin typeface="quote-cjk-patch"/>
              </a:rPr>
              <a:t> Attrition by Education &amp; Filters (All): </a:t>
            </a:r>
            <a:r>
              <a:rPr lang="en-US" sz="2000" dirty="0">
                <a:effectLst/>
                <a:latin typeface="Times New Roman" panose="02020603050405020304" pitchFamily="18" charset="0"/>
                <a:ea typeface="Times New Roman" panose="02020603050405020304" pitchFamily="18" charset="0"/>
              </a:rPr>
              <a:t>Explore how education field links to employee exits with applied filters.</a:t>
            </a:r>
          </a:p>
        </p:txBody>
      </p:sp>
      <p:sp>
        <p:nvSpPr>
          <p:cNvPr id="6" name="TextBox 5">
            <a:extLst>
              <a:ext uri="{FF2B5EF4-FFF2-40B4-BE49-F238E27FC236}">
                <a16:creationId xmlns:a16="http://schemas.microsoft.com/office/drawing/2014/main" id="{924A7F57-5D22-0628-F3D2-5A479719C717}"/>
              </a:ext>
            </a:extLst>
          </p:cNvPr>
          <p:cNvSpPr txBox="1"/>
          <p:nvPr/>
        </p:nvSpPr>
        <p:spPr>
          <a:xfrm>
            <a:off x="123824" y="143167"/>
            <a:ext cx="7574834" cy="923330"/>
          </a:xfrm>
          <a:prstGeom prst="rect">
            <a:avLst/>
          </a:prstGeom>
          <a:noFill/>
        </p:spPr>
        <p:txBody>
          <a:bodyPr wrap="square">
            <a:spAutoFit/>
          </a:bodyPr>
          <a:lstStyle/>
          <a:p>
            <a:r>
              <a:rPr lang="en-US" sz="5400" b="1" dirty="0">
                <a:solidFill>
                  <a:srgbClr val="002060"/>
                </a:solidFill>
                <a:latin typeface="Lato Black" panose="020F0A02020204030203" pitchFamily="34" charset="0"/>
              </a:rPr>
              <a:t>Problem Statement</a:t>
            </a:r>
          </a:p>
        </p:txBody>
      </p:sp>
    </p:spTree>
    <p:extLst>
      <p:ext uri="{BB962C8B-B14F-4D97-AF65-F5344CB8AC3E}">
        <p14:creationId xmlns:p14="http://schemas.microsoft.com/office/powerpoint/2010/main" val="705487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736C0D-ED41-05A6-CF1F-1BDA5D696252}"/>
              </a:ext>
            </a:extLst>
          </p:cNvPr>
          <p:cNvSpPr txBox="1"/>
          <p:nvPr/>
        </p:nvSpPr>
        <p:spPr>
          <a:xfrm>
            <a:off x="117474" y="1318582"/>
            <a:ext cx="11833225" cy="2923877"/>
          </a:xfrm>
          <a:prstGeom prst="rect">
            <a:avLst/>
          </a:prstGeom>
          <a:noFill/>
        </p:spPr>
        <p:txBody>
          <a:bodyPr wrap="square">
            <a:spAutoFit/>
          </a:bodyPr>
          <a:lstStyle/>
          <a:p>
            <a:pPr marL="342900" marR="0" indent="-342900">
              <a:buFont typeface="+mj-lt"/>
              <a:buAutoNum type="arabicPeriod" startAt="12"/>
            </a:pPr>
            <a:r>
              <a:rPr lang="en-US" sz="2800" b="1" dirty="0">
                <a:solidFill>
                  <a:srgbClr val="002060"/>
                </a:solidFill>
                <a:latin typeface="quote-cjk-patch"/>
              </a:rPr>
              <a:t>·  Satisfaction vs Attrition (Job Role filter): </a:t>
            </a:r>
            <a:r>
              <a:rPr lang="en-US" sz="2000" dirty="0">
                <a:effectLst/>
                <a:latin typeface="Times New Roman" panose="02020603050405020304" pitchFamily="18" charset="0"/>
                <a:ea typeface="Times New Roman" panose="02020603050405020304" pitchFamily="18" charset="0"/>
              </a:rPr>
              <a:t>Find how job satisfaction impacts employee exits across different roles.</a:t>
            </a:r>
          </a:p>
          <a:p>
            <a:pPr marL="342900" marR="0" indent="-342900">
              <a:buFont typeface="+mj-lt"/>
              <a:buAutoNum type="arabicPeriod" startAt="12"/>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12"/>
            </a:pPr>
            <a:r>
              <a:rPr lang="en-US" sz="2800" b="1" dirty="0">
                <a:solidFill>
                  <a:srgbClr val="002060"/>
                </a:solidFill>
                <a:latin typeface="quote-cjk-patch"/>
              </a:rPr>
              <a:t>·  Work-Life Balance vs Attrition (Marital Status filter): </a:t>
            </a:r>
            <a:r>
              <a:rPr lang="en-US" sz="2000" dirty="0">
                <a:effectLst/>
                <a:latin typeface="Times New Roman" panose="02020603050405020304" pitchFamily="18" charset="0"/>
                <a:ea typeface="Times New Roman" panose="02020603050405020304" pitchFamily="18" charset="0"/>
              </a:rPr>
              <a:t>Analyze if work-life balance ratings affect attrition by marital status.</a:t>
            </a:r>
          </a:p>
          <a:p>
            <a:pPr marL="342900" marR="0" indent="-342900">
              <a:buFont typeface="+mj-lt"/>
              <a:buAutoNum type="arabicPeriod" startAt="12"/>
            </a:pPr>
            <a:endParaRPr lang="en-US" sz="2000" dirty="0">
              <a:effectLst/>
              <a:latin typeface="Times New Roman" panose="02020603050405020304" pitchFamily="18" charset="0"/>
              <a:ea typeface="Times New Roman" panose="02020603050405020304" pitchFamily="18" charset="0"/>
            </a:endParaRPr>
          </a:p>
          <a:p>
            <a:pPr marL="342900" marR="0" indent="-342900">
              <a:buFont typeface="+mj-lt"/>
              <a:buAutoNum type="arabicPeriod" startAt="12"/>
            </a:pPr>
            <a:r>
              <a:rPr lang="en-US" sz="2800" b="1" dirty="0">
                <a:solidFill>
                  <a:srgbClr val="002060"/>
                </a:solidFill>
                <a:latin typeface="quote-cjk-patch"/>
              </a:rPr>
              <a:t>·  Monthly Income Distribution by Department (Job Role filter): </a:t>
            </a:r>
            <a:r>
              <a:rPr lang="en-US" sz="2000" dirty="0">
                <a:effectLst/>
                <a:latin typeface="Times New Roman" panose="02020603050405020304" pitchFamily="18" charset="0"/>
                <a:ea typeface="Times New Roman" panose="02020603050405020304" pitchFamily="18" charset="0"/>
              </a:rPr>
              <a:t>Compare income patterns across departments to check their link with attrition.</a:t>
            </a:r>
          </a:p>
        </p:txBody>
      </p:sp>
      <p:sp>
        <p:nvSpPr>
          <p:cNvPr id="5" name="TextBox 4">
            <a:extLst>
              <a:ext uri="{FF2B5EF4-FFF2-40B4-BE49-F238E27FC236}">
                <a16:creationId xmlns:a16="http://schemas.microsoft.com/office/drawing/2014/main" id="{4A5D1976-2BEE-BBCD-D075-54ACF5297464}"/>
              </a:ext>
            </a:extLst>
          </p:cNvPr>
          <p:cNvSpPr txBox="1"/>
          <p:nvPr/>
        </p:nvSpPr>
        <p:spPr>
          <a:xfrm>
            <a:off x="123824" y="143167"/>
            <a:ext cx="7574834" cy="923330"/>
          </a:xfrm>
          <a:prstGeom prst="rect">
            <a:avLst/>
          </a:prstGeom>
          <a:noFill/>
        </p:spPr>
        <p:txBody>
          <a:bodyPr wrap="square">
            <a:spAutoFit/>
          </a:bodyPr>
          <a:lstStyle/>
          <a:p>
            <a:r>
              <a:rPr lang="en-US" sz="5400" b="1" dirty="0">
                <a:solidFill>
                  <a:srgbClr val="002060"/>
                </a:solidFill>
                <a:latin typeface="Lato Black" panose="020F0A02020204030203" pitchFamily="34" charset="0"/>
              </a:rPr>
              <a:t>Problem Statement</a:t>
            </a:r>
          </a:p>
        </p:txBody>
      </p:sp>
    </p:spTree>
    <p:extLst>
      <p:ext uri="{BB962C8B-B14F-4D97-AF65-F5344CB8AC3E}">
        <p14:creationId xmlns:p14="http://schemas.microsoft.com/office/powerpoint/2010/main" val="995846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504</Words>
  <Application>Microsoft Office PowerPoint</Application>
  <PresentationFormat>Widescreen</PresentationFormat>
  <Paragraphs>40</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Lato Black</vt:lpstr>
      <vt:lpstr>quote-cjk-patch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muhammed Jan</dc:creator>
  <cp:lastModifiedBy>muhammed Jan</cp:lastModifiedBy>
  <cp:revision>1</cp:revision>
  <dcterms:created xsi:type="dcterms:W3CDTF">2025-09-06T00:34:43Z</dcterms:created>
  <dcterms:modified xsi:type="dcterms:W3CDTF">2025-09-06T00:35:23Z</dcterms:modified>
</cp:coreProperties>
</file>